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217dcacbc741ef" /><Relationship Type="http://schemas.openxmlformats.org/officeDocument/2006/relationships/extended-properties" Target="/docProps/app.xml" Id="Rc70968a9935d497b" /><Relationship Type="http://schemas.openxmlformats.org/officeDocument/2006/relationships/officeDocument" Target="/ppt/presentation.xml" Id="Rc6adfad238d04b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60aab380994f5c"/>
  </p:sldMasterIdLst>
  <p:notesMasterIdLst>
    <p:notesMasterId xmlns:r="http://schemas.openxmlformats.org/officeDocument/2006/relationships" r:id="Rbf828f9210724230"/>
  </p:notesMasterIdLst>
  <p:sldIdLst>
    <p:sldId xmlns:r="http://schemas.openxmlformats.org/officeDocument/2006/relationships" id="256" r:id="Rf0a2a6d9492647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f02101fc7143ef" /><Relationship Type="http://schemas.openxmlformats.org/officeDocument/2006/relationships/slideMaster" Target="/ppt/slideMasters/slideMaster1.xml" Id="R8e60aab380994f5c" /><Relationship Type="http://schemas.openxmlformats.org/officeDocument/2006/relationships/notesMaster" Target="/ppt/notesMasters/notesMaster1.xml" Id="Rbf828f9210724230" /><Relationship Type="http://schemas.openxmlformats.org/officeDocument/2006/relationships/presProps" Target="/ppt/presProps.xml" Id="R5f800a16f7474dc9" /><Relationship Type="http://schemas.openxmlformats.org/officeDocument/2006/relationships/tableStyles" Target="/ppt/tableStyles.xml" Id="R40ba5dc1370943ea" /><Relationship Type="http://schemas.openxmlformats.org/officeDocument/2006/relationships/slide" Target="/ppt/slides/slide1.xml" Id="Rf0a2a6d9492647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d4f76e92364d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039b48668a430b" /><Relationship Type="http://schemas.openxmlformats.org/officeDocument/2006/relationships/notesMaster" Target="/ppt/notesMasters/notesMaster1.xml" Id="Rb494985d4e0941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CDC Adult Obesity Prevalence Maps, https://www.cdc.gov/obesity/data-and-statistics/adult-obesity-prevalence-maps.html</a:t>
            </a:r>
          </a:p>
          <a:p xmlns:a="http://schemas.openxmlformats.org/drawingml/2006/main">
            <a:r>
              <a:t>Redesign screenshot: Guyun (Alicia) Lu, STATS401 project.</a:t>
            </a:r>
          </a:p>
          <a:p xmlns:a="http://schemas.openxmlformats.org/drawingml/2006/main">
            <a:r>
              <a:t>The original map remains valuable for geographic pattern detection. The redesign adds faster subgroup switching and precise state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f73bb569dc49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7ae98ffda64ada" /><Relationship Type="http://schemas.openxmlformats.org/officeDocument/2006/relationships/slideLayout" Target="/ppt/slideLayouts/slideLayout1.xml" Id="R2e4885fd669646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4885fd669646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9daaf99ab4660" /><Relationship Type="http://schemas.openxmlformats.org/officeDocument/2006/relationships/image" Target="/ppt/media/image.jpeg" Id="R435abfb5baa74930" /><Relationship Type="http://schemas.openxmlformats.org/officeDocument/2006/relationships/image" Target="/ppt/media/image.png" Id="R848a4b0329a747d9" /><Relationship Type="http://schemas.openxmlformats.org/officeDocument/2006/relationships/notesSlide" Target="/ppt/notesSlides/notesSlide1.xml" Id="Ra92f3079f64a4c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4E17D8-EA10-4BB8-AC1D-5A08AC86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3C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73C32"/>
                </a:solidFill>
                <a:latin typeface="Helvetica Neue"/>
                <a:ea typeface="Helvetica Neue"/>
                <a:cs typeface="Helvetica Neue"/>
              </a:rPr>
              <a:t>Redesigning CDC Adult Obesity Prevalence Maps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8879F-CA4B-4556-8E39-8BA020E0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D6F68"/>
                </a:solidFill>
                <a:latin typeface="Helvetica Neue"/>
                <a:ea typeface="Helvetica Neue"/>
                <a:cs typeface="Helvetica Neue"/>
              </a:rPr>
              <a:t>From repeated static maps to interactive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C79E8-B315-4224-9C4B-E73F6836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96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C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F96C8-1A4E-4A9D-B48A-B74B9F7D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430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C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F6C5D"/>
                </a:solidFill>
                <a:latin typeface="Helvetica Neue"/>
                <a:ea typeface="Helvetica Neue"/>
                <a:cs typeface="Helvetica Neue"/>
              </a:rPr>
              <a:t>ORIGINAL CDC VISUALIZATION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40220-3F62-45E7-8D28-55CF886F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3430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58D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58D2F"/>
                </a:solidFill>
                <a:latin typeface="Helvetica Neue"/>
                <a:ea typeface="Helvetica Neue"/>
                <a:cs typeface="Helvetica Neue"/>
              </a:rPr>
              <a:t>THREE TASK GAPS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6C903-808B-4B34-B532-03DBB370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43025"/>
            <a:ext cx="5448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C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F6C5D"/>
                </a:solidFill>
                <a:latin typeface="Helvetica Neue"/>
                <a:ea typeface="Helvetica Neue"/>
                <a:cs typeface="Helvetica Neue"/>
              </a:rPr>
              <a:t>INTERACTIVE D3 REDESIGN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abfb5baa74930"/>
          <a:stretch xmlns:a="http://schemas.openxmlformats.org/drawingml/2006/main"/>
        </p:blipFill>
        <p:spPr>
          <a:xfrm xmlns:a="http://schemas.openxmlformats.org/drawingml/2006/main">
            <a:off x="457200" y="1646095"/>
            <a:ext cx="2857500" cy="179415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2106F-969B-4E8F-B425-D24623F0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99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C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F6C5D"/>
                </a:solidFill>
                <a:latin typeface="Helvetica Neue"/>
                <a:ea typeface="Helvetica Neue"/>
                <a:cs typeface="Helvetica Neue"/>
              </a:rPr>
              <a:t>Strength preserved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5F37C2-67D2-44A0-ACCD-46E9EA19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671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90" b="0">
                <a:solidFill>
                  <a:srgbClr val="2231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 b="0">
                <a:solidFill>
                  <a:srgbClr val="22312C"/>
                </a:solidFill>
                <a:latin typeface="Helvetica Neue"/>
                <a:ea typeface="Helvetica Neue"/>
                <a:cs typeface="Helvetica Neue"/>
              </a:rPr>
              <a:t>The map clearly shows geographic patterns within each population group.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B31F9-4F72-4472-9205-DA9C2F6C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6764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8D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58D2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118793-AD80-4839-B8AF-4CFC37B9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66875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73C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1">
                <a:solidFill>
                  <a:srgbClr val="173C32"/>
                </a:solidFill>
                <a:latin typeface="Helvetica Neue"/>
                <a:ea typeface="Helvetica Neue"/>
                <a:cs typeface="Helvetica Neue"/>
              </a:rPr>
              <a:t>Repeated maps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DD3A0A-8884-4505-AF6F-5FC5BCE1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4312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5D6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40" b="0">
                <a:solidFill>
                  <a:srgbClr val="5D6F68"/>
                </a:solidFill>
                <a:latin typeface="Helvetica Neue"/>
                <a:ea typeface="Helvetica Neue"/>
                <a:cs typeface="Helvetica Neue"/>
              </a:rPr>
              <a:t>Scrolling and memory make subgroup comparison difficult.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AF1FD8-2A22-4A6E-BABB-E117D611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813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69D297-7A99-4FE5-86E5-9974F3AC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9051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8D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58D2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EF6161-59BA-426B-8A01-44A41810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73C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1">
                <a:solidFill>
                  <a:srgbClr val="173C32"/>
                </a:solidFill>
                <a:latin typeface="Helvetica Neue"/>
                <a:ea typeface="Helvetica Neue"/>
                <a:cs typeface="Helvetica Neue"/>
              </a:rPr>
              <a:t>Cross-group exploration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58EF81-3651-439D-BD67-F0E6E0A0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718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5D6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40" b="0">
                <a:solidFill>
                  <a:srgbClr val="5D6F68"/>
                </a:solidFill>
                <a:latin typeface="Helvetica Neue"/>
                <a:ea typeface="Helvetica Neue"/>
                <a:cs typeface="Helvetica Neue"/>
              </a:rPr>
              <a:t>Different populations are separated across the page.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8D707-5FBD-4FA2-80AC-B566AC65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100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11FB96-033E-4340-8439-014B3BC8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338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8D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58D2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465ABB-A88F-4941-B75C-5DDAA36D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24325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73C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1">
                <a:solidFill>
                  <a:srgbClr val="173C32"/>
                </a:solidFill>
                <a:latin typeface="Helvetica Neue"/>
                <a:ea typeface="Helvetica Neue"/>
                <a:cs typeface="Helvetica Neue"/>
              </a:rPr>
              <a:t>Imprecise comparison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2771C1-9C3B-44D2-9864-4607073B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0057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5D6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40" b="0">
                <a:solidFill>
                  <a:srgbClr val="5D6F68"/>
                </a:solidFill>
                <a:latin typeface="Helvetica Neue"/>
                <a:ea typeface="Helvetica Neue"/>
                <a:cs typeface="Helvetica Neue"/>
              </a:rPr>
              <a:t>Color and geographic area make exact state comparison difficult.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a4b0329a747d9"/>
          <a:stretch xmlns:a="http://schemas.openxmlformats.org/drawingml/2006/main"/>
        </p:blipFill>
        <p:spPr>
          <a:xfrm xmlns:a="http://schemas.openxmlformats.org/drawingml/2006/main">
            <a:off x="6286500" y="1832352"/>
            <a:ext cx="3143250" cy="3764797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419625-DB06-447A-8F53-78DF7F76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685925"/>
            <a:ext cx="2076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2F6C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1">
                <a:solidFill>
                  <a:srgbClr val="2F6C5D"/>
                </a:solidFill>
                <a:latin typeface="Helvetica Neue"/>
                <a:ea typeface="Helvetica Neue"/>
                <a:cs typeface="Helvetica Neue"/>
              </a:rPr>
              <a:t>One persistent map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BABACE-4890-449A-8931-CE6EC9A2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3360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10" b="0">
                <a:solidFill>
                  <a:srgbClr val="2231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10" b="0">
                <a:solidFill>
                  <a:srgbClr val="22312C"/>
                </a:solidFill>
                <a:latin typeface="Helvetica Neue"/>
                <a:ea typeface="Helvetica Neue"/>
                <a:cs typeface="Helvetica Neue"/>
              </a:rPr>
              <a:t>Switch groups without losing geographic context.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0D87E8-397E-4023-AFE2-113C14EA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14650"/>
            <a:ext cx="2076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2F6C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1">
                <a:solidFill>
                  <a:srgbClr val="2F6C5D"/>
                </a:solidFill>
                <a:latin typeface="Helvetica Neue"/>
                <a:ea typeface="Helvetica Neue"/>
                <a:cs typeface="Helvetica Neue"/>
              </a:rPr>
              <a:t>Demographic selectors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3DC148-E2F0-4649-8C50-4C6C51ED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62325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10" b="0">
                <a:solidFill>
                  <a:srgbClr val="2231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10" b="0">
                <a:solidFill>
                  <a:srgbClr val="22312C"/>
                </a:solidFill>
                <a:latin typeface="Helvetica Neue"/>
                <a:ea typeface="Helvetica Neue"/>
                <a:cs typeface="Helvetica Neue"/>
              </a:rPr>
              <a:t>Explore age and race/ethnicity directly.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397B87-4924-4AB8-9F4E-06E7F624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43375"/>
            <a:ext cx="2076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2F6C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1">
                <a:solidFill>
                  <a:srgbClr val="2F6C5D"/>
                </a:solidFill>
                <a:latin typeface="Helvetica Neue"/>
                <a:ea typeface="Helvetica Neue"/>
                <a:cs typeface="Helvetica Neue"/>
              </a:rPr>
              <a:t>Linked state ranking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45D00A-A9DD-4055-8402-73243D12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59105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10" b="0">
                <a:solidFill>
                  <a:srgbClr val="2231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10" b="0">
                <a:solidFill>
                  <a:srgbClr val="22312C"/>
                </a:solidFill>
                <a:latin typeface="Helvetica Neue"/>
                <a:ea typeface="Helvetica Neue"/>
                <a:cs typeface="Helvetica Neue"/>
              </a:rPr>
              <a:t>Dot plot and tooltip support precise comparison.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92F4E7-1B68-4FAD-855E-34556C56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C32"/>
          </a:solidFill>
          <a:ln xmlns:a="http://schemas.openxmlformats.org/drawingml/2006/main" w="0">
            <a:solidFill>
              <a:srgbClr val="173C3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2C6563-58E7-44D4-B83D-534A5CD2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76975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63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63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Map = WHERE are the patterns?   •   Dot plot = WHICH states are higher, and by HOW MUCH?</a:t>
            </a:r>
          </a:p>
        </p:txBody>
      </p:sp>
    </p:spTree>
    <p:extLst>
      <p:ext uri="{BB962C8B-B14F-4D97-AF65-F5344CB8AC3E}">
        <p14:creationId xmlns:p14="http://schemas.microsoft.com/office/powerpoint/2010/main" val="11150162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2026-09-27T07:11:32.3330000Z</dcterms:created>
  <dcterms:modified xsi:type="dcterms:W3CDTF">2026-09-27T07:11:32.3330000Z</dcterms:modified>
</coreProperties>
</file>